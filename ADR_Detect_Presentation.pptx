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ADR-Detect: Clinical Decision Support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Adverse Drug Reaction Detection Using TF-IDF &amp; Random Forest</a:t>
            </a:r>
          </a:p>
          <a:p/>
          <a:p>
            <a:r>
              <a:t>Student: Pranav Prabhakar Dabholkar | Roll No: [INSERT ROLL NUMBER]</a:t>
            </a:r>
          </a:p>
          <a:p>
            <a:r>
              <a:t>M.Sc. Data Science | KES' Shroff College of Arts &amp; Commerce</a:t>
            </a:r>
          </a:p>
          <a:p>
            <a:r>
              <a:t>Subject: Advanced Text Analytics and Natural Language Processing</a:t>
            </a:r>
          </a:p>
          <a:p>
            <a:r>
              <a:t>Guide: [TEACHER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Clinical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Problem: Manual Review Bottleneck</a:t>
            </a:r>
          </a:p>
          <a:p>
            <a:pPr lvl="1"/>
            <a:r>
              <a:t>Hospitals and pharmacovigilance bodies receive millions of unstructured clinical notes.</a:t>
            </a:r>
          </a:p>
          <a:p>
            <a:pPr lvl="1"/>
            <a:r>
              <a:t>Manual triage of post-market reports is slow and prone to fatigue.</a:t>
            </a:r>
          </a:p>
          <a:p>
            <a:pPr/>
            <a:r>
              <a:t>The NLP Solution: ADR-Detect</a:t>
            </a:r>
          </a:p>
          <a:p>
            <a:pPr lvl="1"/>
            <a:r>
              <a:t>Automated screening converts medical notes into bigram TF-IDF vectors.</a:t>
            </a:r>
          </a:p>
          <a:p>
            <a:pPr lvl="1"/>
            <a:r>
              <a:t>Evaluated on the benchmark ADE-Corpus-V2 dataset (23,516 sentences).</a:t>
            </a:r>
          </a:p>
          <a:p>
            <a:pPr lvl="1"/>
            <a:r>
              <a:t>[!] Insert Class Distribution &amp; Sentence Length EDA charts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Blueprint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&amp; Environment</a:t>
            </a:r>
          </a:p>
          <a:p>
            <a:pPr lvl="1"/>
            <a:r>
              <a:t>23,516 Labeled Sentences | TF-IDF (1, 2) N-Gram Range | Python 3.10</a:t>
            </a:r>
          </a:p>
          <a:p>
            <a:pPr/>
            <a:r>
              <a:t>Pipeline Flow</a:t>
            </a:r>
          </a:p>
          <a:p>
            <a:pPr lvl="1"/>
            <a:r>
              <a:t>1. Raw Clinical Text Ingestion</a:t>
            </a:r>
          </a:p>
          <a:p>
            <a:pPr lvl="1"/>
            <a:r>
              <a:t>2. Regex Cleaning (Standardization, Bracket Removal)</a:t>
            </a:r>
          </a:p>
          <a:p>
            <a:pPr lvl="1"/>
            <a:r>
              <a:t>3. TF-IDF Transformation</a:t>
            </a:r>
          </a:p>
          <a:p>
            <a:pPr lvl="1"/>
            <a:r>
              <a:t>4. Random Forest Classification</a:t>
            </a:r>
          </a:p>
          <a:p>
            <a:pPr lvl="1"/>
            <a:r>
              <a:t>5. Streamlit Deployment with joblib caching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(Dashboard)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 Application Highlights</a:t>
            </a:r>
          </a:p>
          <a:p>
            <a:pPr lvl="1"/>
            <a:r>
              <a:t>Zero-Friction Ingestion: Supports free-text clinical notes.</a:t>
            </a:r>
          </a:p>
          <a:p>
            <a:pPr lvl="1"/>
            <a:r>
              <a:t>One-Click Clinical Scenarios: Pre-loaded presets for rapid demonstration.</a:t>
            </a:r>
          </a:p>
          <a:p>
            <a:pPr lvl="1"/>
            <a:r>
              <a:t>Real-Time Model Information: Transparent baseline metrics displayed.</a:t>
            </a:r>
          </a:p>
          <a:p>
            <a:pPr/>
            <a:r>
              <a:t>[!] Insert Screenshot 1 (Empty/Initial Streamlit Dashboard)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Empirical Verification: Adverse Reaction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Case Study 1: Angioedema Detection</a:t>
            </a:r>
          </a:p>
          <a:p>
            <a:pPr lvl="1"/>
            <a:r>
              <a:t>Clinical Input: "The patient developed acute angioedema of the lips..."</a:t>
            </a:r>
          </a:p>
          <a:p>
            <a:pPr lvl="1"/>
            <a:r>
              <a:t>Prediction: Adverse Reaction Detected (Class 1)</a:t>
            </a:r>
          </a:p>
          <a:p>
            <a:pPr lvl="1"/>
            <a:r>
              <a:t>Signal Highlights: High-weight tokens like 'lips' and 'tongue' extracted.</a:t>
            </a:r>
          </a:p>
          <a:p>
            <a:pPr/>
            <a:r>
              <a:t>[!] Insert Screenshot 2 (Red Alert Card)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Empirical Verification: Negative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Case Study 2: Routine Follow-up</a:t>
            </a:r>
          </a:p>
          <a:p>
            <a:pPr lvl="1"/>
            <a:r>
              <a:t>Clinical Input: "The patient reports feeling well and tolerating..."</a:t>
            </a:r>
          </a:p>
          <a:p>
            <a:pPr lvl="1"/>
            <a:r>
              <a:t>Prediction: No Adverse Reaction Detected (Class 0)</a:t>
            </a:r>
          </a:p>
          <a:p>
            <a:pPr lvl="1"/>
            <a:r>
              <a:t>Signal Highlights: Neutral non-adverse tokens identified (e.g., 'complaints', 'regimen').</a:t>
            </a:r>
          </a:p>
          <a:p>
            <a:pPr/>
            <a:r>
              <a:t>[!] Insert Screenshot 3 (Green Confirmation Card)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&amp; Feature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on 4,704 Unseen Sentences</a:t>
            </a:r>
          </a:p>
          <a:p>
            <a:pPr lvl="1"/>
            <a:r>
              <a:t>Overall Accuracy: 89%</a:t>
            </a:r>
          </a:p>
          <a:p>
            <a:pPr lvl="1"/>
            <a:r>
              <a:t>Class 1 (Adverse Reaction) Precision: 86%</a:t>
            </a:r>
          </a:p>
          <a:p>
            <a:pPr lvl="1"/>
            <a:r>
              <a:t>Class 1 (Adverse Reaction) Recall: 74%</a:t>
            </a:r>
          </a:p>
          <a:p>
            <a:pPr lvl="1"/>
            <a:r>
              <a:t>Class 0 (No Reaction) Recall: 95%</a:t>
            </a:r>
          </a:p>
          <a:p>
            <a:pPr/>
            <a:r>
              <a:t>[!] Insert Screenshot 6 (Confusion Matrix)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Achievements</a:t>
            </a:r>
          </a:p>
          <a:p>
            <a:pPr lvl="1"/>
            <a:r>
              <a:t>Engineered an end-to-end NLP triage engine from raw clinical corpora.</a:t>
            </a:r>
          </a:p>
          <a:p>
            <a:pPr lvl="1"/>
            <a:r>
              <a:t>Built a self-contained, interactive Streamlit dashboard.</a:t>
            </a:r>
          </a:p>
          <a:p>
            <a:pPr/>
            <a:r>
              <a:t>Future Enhancements</a:t>
            </a:r>
          </a:p>
          <a:p>
            <a:pPr lvl="1"/>
            <a:r>
              <a:t>Named Entity Recognition (NER): Transition to token-level entity extraction.</a:t>
            </a:r>
          </a:p>
          <a:p>
            <a:pPr lvl="1"/>
            <a:r>
              <a:t>Transformer Fine-Tuning: Benchmark against BioBERT to improve recall.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